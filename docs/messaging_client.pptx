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Norwester" charset="1" panose="00000506000000000000"/>
      <p:regular r:id="rId17"/>
    </p:embeddedFont>
    <p:embeddedFont>
      <p:font typeface="Alegreya Sans" charset="1" panose="00000500000000000000"/>
      <p:regular r:id="rId18"/>
    </p:embeddedFont>
    <p:embeddedFont>
      <p:font typeface="Alegreya Sans Bold Italics" charset="1" panose="00000800000000000000"/>
      <p:regular r:id="rId19"/>
    </p:embeddedFont>
    <p:embeddedFont>
      <p:font typeface="Consolas" charset="1" panose="020B060902020403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0643118" y="-3524350"/>
            <a:ext cx="4729037" cy="7048700"/>
          </a:xfrm>
          <a:custGeom>
            <a:avLst/>
            <a:gdLst/>
            <a:ahLst/>
            <a:cxnLst/>
            <a:rect r="r" b="b" t="t" l="l"/>
            <a:pathLst>
              <a:path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915845" y="6786337"/>
            <a:ext cx="4729037" cy="7048700"/>
          </a:xfrm>
          <a:custGeom>
            <a:avLst/>
            <a:gdLst/>
            <a:ahLst/>
            <a:cxnLst/>
            <a:rect r="r" b="b" t="t" l="l"/>
            <a:pathLst>
              <a:path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756013" y="1534701"/>
            <a:ext cx="2448843" cy="405172"/>
          </a:xfrm>
          <a:custGeom>
            <a:avLst/>
            <a:gdLst/>
            <a:ahLst/>
            <a:cxnLst/>
            <a:rect r="r" b="b" t="t" l="l"/>
            <a:pathLst>
              <a:path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83144" y="8450319"/>
            <a:ext cx="2448843" cy="405172"/>
          </a:xfrm>
          <a:custGeom>
            <a:avLst/>
            <a:gdLst/>
            <a:ahLst/>
            <a:cxnLst/>
            <a:rect r="r" b="b" t="t" l="l"/>
            <a:pathLst>
              <a:path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-2364519" y="5733950"/>
            <a:ext cx="4729037" cy="7048700"/>
          </a:xfrm>
          <a:custGeom>
            <a:avLst/>
            <a:gdLst/>
            <a:ahLst/>
            <a:cxnLst/>
            <a:rect r="r" b="b" t="t" l="l"/>
            <a:pathLst>
              <a:path h="7048700" w="4729037">
                <a:moveTo>
                  <a:pt x="0" y="0"/>
                </a:moveTo>
                <a:lnTo>
                  <a:pt x="4729038" y="0"/>
                </a:lnTo>
                <a:lnTo>
                  <a:pt x="4729038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5923481" y="-2495650"/>
            <a:ext cx="4729037" cy="7048700"/>
          </a:xfrm>
          <a:custGeom>
            <a:avLst/>
            <a:gdLst/>
            <a:ahLst/>
            <a:cxnLst/>
            <a:rect r="r" b="b" t="t" l="l"/>
            <a:pathLst>
              <a:path h="7048700" w="4729037">
                <a:moveTo>
                  <a:pt x="0" y="0"/>
                </a:moveTo>
                <a:lnTo>
                  <a:pt x="4729038" y="0"/>
                </a:lnTo>
                <a:lnTo>
                  <a:pt x="4729038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-3729024" y="1619150"/>
            <a:ext cx="4729037" cy="7048700"/>
          </a:xfrm>
          <a:custGeom>
            <a:avLst/>
            <a:gdLst/>
            <a:ahLst/>
            <a:cxnLst/>
            <a:rect r="r" b="b" t="t" l="l"/>
            <a:pathLst>
              <a:path h="7048700" w="4729037">
                <a:moveTo>
                  <a:pt x="0" y="0"/>
                </a:moveTo>
                <a:lnTo>
                  <a:pt x="4729038" y="0"/>
                </a:lnTo>
                <a:lnTo>
                  <a:pt x="4729038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17286547" y="1619150"/>
            <a:ext cx="4729037" cy="7048700"/>
          </a:xfrm>
          <a:custGeom>
            <a:avLst/>
            <a:gdLst/>
            <a:ahLst/>
            <a:cxnLst/>
            <a:rect r="r" b="b" t="t" l="l"/>
            <a:pathLst>
              <a:path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700869" y="2959956"/>
            <a:ext cx="11192502" cy="2606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CLIENTE MENSAJERIA C + MPI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755079" y="6132042"/>
            <a:ext cx="6779282" cy="1181779"/>
            <a:chOff x="0" y="0"/>
            <a:chExt cx="1785490" cy="3112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85490" cy="311251"/>
            </a:xfrm>
            <a:custGeom>
              <a:avLst/>
              <a:gdLst/>
              <a:ahLst/>
              <a:cxnLst/>
              <a:rect r="r" b="b" t="t" l="l"/>
              <a:pathLst>
                <a:path h="311251" w="178549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8D1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907479" y="6326239"/>
            <a:ext cx="6779282" cy="1181779"/>
            <a:chOff x="0" y="0"/>
            <a:chExt cx="1785490" cy="3112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85490" cy="311251"/>
            </a:xfrm>
            <a:custGeom>
              <a:avLst/>
              <a:gdLst/>
              <a:ahLst/>
              <a:cxnLst/>
              <a:rect r="r" b="b" t="t" l="l"/>
              <a:pathLst>
                <a:path h="311251" w="178549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ln w="76200" cap="sq">
              <a:solidFill>
                <a:srgbClr val="954CBA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429330" y="6206930"/>
            <a:ext cx="5735579" cy="128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Mauricio Artavia Monge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C10743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50813" y="1375337"/>
            <a:ext cx="4586373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Universidad De Costa Rica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73946" y="8290955"/>
            <a:ext cx="664634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Programacion Paralela &amp; Concurrente |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0693624" y="-3524350"/>
            <a:ext cx="4729037" cy="7048700"/>
          </a:xfrm>
          <a:custGeom>
            <a:avLst/>
            <a:gdLst/>
            <a:ahLst/>
            <a:cxnLst/>
            <a:rect r="r" b="b" t="t" l="l"/>
            <a:pathLst>
              <a:path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915845" y="6786337"/>
            <a:ext cx="4729037" cy="7048700"/>
          </a:xfrm>
          <a:custGeom>
            <a:avLst/>
            <a:gdLst/>
            <a:ahLst/>
            <a:cxnLst/>
            <a:rect r="r" b="b" t="t" l="l"/>
            <a:pathLst>
              <a:path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756013" y="1534701"/>
            <a:ext cx="2448843" cy="405172"/>
          </a:xfrm>
          <a:custGeom>
            <a:avLst/>
            <a:gdLst/>
            <a:ahLst/>
            <a:cxnLst/>
            <a:rect r="r" b="b" t="t" l="l"/>
            <a:pathLst>
              <a:path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83144" y="8073830"/>
            <a:ext cx="2448843" cy="405172"/>
          </a:xfrm>
          <a:custGeom>
            <a:avLst/>
            <a:gdLst/>
            <a:ahLst/>
            <a:cxnLst/>
            <a:rect r="r" b="b" t="t" l="l"/>
            <a:pathLst>
              <a:path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6076374" y="-2482323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-2250585" y="6195701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341594" y="1534701"/>
            <a:ext cx="5481584" cy="955562"/>
            <a:chOff x="0" y="0"/>
            <a:chExt cx="1785490" cy="3112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85490" cy="311251"/>
            </a:xfrm>
            <a:custGeom>
              <a:avLst/>
              <a:gdLst/>
              <a:ahLst/>
              <a:cxnLst/>
              <a:rect r="r" b="b" t="t" l="l"/>
              <a:pathLst>
                <a:path h="311251" w="178549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8D1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64822" y="1691724"/>
            <a:ext cx="5481584" cy="955562"/>
            <a:chOff x="0" y="0"/>
            <a:chExt cx="1785490" cy="3112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85490" cy="311251"/>
            </a:xfrm>
            <a:custGeom>
              <a:avLst/>
              <a:gdLst/>
              <a:ahLst/>
              <a:cxnLst/>
              <a:rect r="r" b="b" t="t" l="l"/>
              <a:pathLst>
                <a:path h="311251" w="178549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ln w="76200" cap="sq">
              <a:solidFill>
                <a:srgbClr val="954CBA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321887" y="3025764"/>
            <a:ext cx="11644227" cy="2557638"/>
            <a:chOff x="0" y="0"/>
            <a:chExt cx="1803995" cy="39624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03996" cy="396245"/>
            </a:xfrm>
            <a:custGeom>
              <a:avLst/>
              <a:gdLst/>
              <a:ahLst/>
              <a:cxnLst/>
              <a:rect r="r" b="b" t="t" l="l"/>
              <a:pathLst>
                <a:path h="396245" w="1803996">
                  <a:moveTo>
                    <a:pt x="0" y="0"/>
                  </a:moveTo>
                  <a:lnTo>
                    <a:pt x="1803996" y="0"/>
                  </a:lnTo>
                  <a:lnTo>
                    <a:pt x="1803996" y="396245"/>
                  </a:lnTo>
                  <a:lnTo>
                    <a:pt x="0" y="396245"/>
                  </a:lnTo>
                  <a:close/>
                </a:path>
              </a:pathLst>
            </a:custGeom>
            <a:blipFill>
              <a:blip r:embed="rId6"/>
              <a:stretch>
                <a:fillRect l="0" t="-63818" r="0" b="-63818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3296461" y="5831052"/>
            <a:ext cx="11695077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Que se construyo: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-5400000">
            <a:off x="17620984" y="1556567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-5400000">
            <a:off x="-3752074" y="2286941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758689" y="1803903"/>
            <a:ext cx="4770623" cy="655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9"/>
              </a:lnSpc>
            </a:pPr>
            <a:r>
              <a:rPr lang="en-US" sz="3835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PROBLEMA / OBJETIVO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252217"/>
            <a:ext cx="4586373" cy="4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Universidad De Costa Rica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529311" y="9387387"/>
            <a:ext cx="5729989" cy="4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Programacion Paralela &amp; Concurrente | 2026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707735" y="6288252"/>
            <a:ext cx="11695077" cy="219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Sistema de mensajeria distribuida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Multiples procesos concurrentes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Comunicacion usando MPI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Soporte en Terminal (CLI) &amp; Interfaz Grafica (GUI)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0" y="8621877"/>
            <a:ext cx="1828800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i="true">
                <a:solidFill>
                  <a:srgbClr val="954CBA"/>
                </a:solidFill>
                <a:latin typeface="Alegreya Sans Bold Italics"/>
                <a:ea typeface="Alegreya Sans Bold Italics"/>
                <a:cs typeface="Alegreya Sans Bold Italics"/>
                <a:sym typeface="Alegreya Sans Bold Italics"/>
              </a:rPr>
              <a:t>“Simulacion de sistema tipo WhatsApp/Telegram en entorno distribuido”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0693624" y="-3524350"/>
            <a:ext cx="4729037" cy="7048700"/>
          </a:xfrm>
          <a:custGeom>
            <a:avLst/>
            <a:gdLst/>
            <a:ahLst/>
            <a:cxnLst/>
            <a:rect r="r" b="b" t="t" l="l"/>
            <a:pathLst>
              <a:path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915845" y="6786337"/>
            <a:ext cx="4729037" cy="7048700"/>
          </a:xfrm>
          <a:custGeom>
            <a:avLst/>
            <a:gdLst/>
            <a:ahLst/>
            <a:cxnLst/>
            <a:rect r="r" b="b" t="t" l="l"/>
            <a:pathLst>
              <a:path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756013" y="1534701"/>
            <a:ext cx="2448843" cy="405172"/>
          </a:xfrm>
          <a:custGeom>
            <a:avLst/>
            <a:gdLst/>
            <a:ahLst/>
            <a:cxnLst/>
            <a:rect r="r" b="b" t="t" l="l"/>
            <a:pathLst>
              <a:path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83144" y="8450319"/>
            <a:ext cx="2448843" cy="405172"/>
          </a:xfrm>
          <a:custGeom>
            <a:avLst/>
            <a:gdLst/>
            <a:ahLst/>
            <a:cxnLst/>
            <a:rect r="r" b="b" t="t" l="l"/>
            <a:pathLst>
              <a:path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6076374" y="-2482323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-2250585" y="6195701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341594" y="1534701"/>
            <a:ext cx="5481584" cy="955562"/>
            <a:chOff x="0" y="0"/>
            <a:chExt cx="1785490" cy="3112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85490" cy="311251"/>
            </a:xfrm>
            <a:custGeom>
              <a:avLst/>
              <a:gdLst/>
              <a:ahLst/>
              <a:cxnLst/>
              <a:rect r="r" b="b" t="t" l="l"/>
              <a:pathLst>
                <a:path h="311251" w="178549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8D1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64822" y="1691724"/>
            <a:ext cx="5481584" cy="955562"/>
            <a:chOff x="0" y="0"/>
            <a:chExt cx="1785490" cy="3112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85490" cy="311251"/>
            </a:xfrm>
            <a:custGeom>
              <a:avLst/>
              <a:gdLst/>
              <a:ahLst/>
              <a:cxnLst/>
              <a:rect r="r" b="b" t="t" l="l"/>
              <a:pathLst>
                <a:path h="311251" w="178549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ln w="76200" cap="sq">
              <a:solidFill>
                <a:srgbClr val="954CBA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5400000">
            <a:off x="17620984" y="1556567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5400000">
            <a:off x="-3752074" y="2286941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617125" y="2012482"/>
            <a:ext cx="5235122" cy="7245818"/>
          </a:xfrm>
          <a:custGeom>
            <a:avLst/>
            <a:gdLst/>
            <a:ahLst/>
            <a:cxnLst/>
            <a:rect r="r" b="b" t="t" l="l"/>
            <a:pathLst>
              <a:path h="7245818" w="5235122">
                <a:moveTo>
                  <a:pt x="0" y="0"/>
                </a:moveTo>
                <a:lnTo>
                  <a:pt x="5235122" y="0"/>
                </a:lnTo>
                <a:lnTo>
                  <a:pt x="5235122" y="7245818"/>
                </a:lnTo>
                <a:lnTo>
                  <a:pt x="0" y="72458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503229" y="1803876"/>
            <a:ext cx="5319950" cy="655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9"/>
              </a:lnSpc>
            </a:pPr>
            <a:r>
              <a:rPr lang="en-US" sz="3835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ARQUITECTURA GENERAL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252217"/>
            <a:ext cx="4586373" cy="4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Universidad De Costa Rica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345387" y="9387387"/>
            <a:ext cx="5913913" cy="4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Programacion Paralela &amp; Concurrente | 2026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852247" y="3238426"/>
            <a:ext cx="8422006" cy="219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El Coordinador enruta los mensajes.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Los Clientes no se llegan a comunicar directamente.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El modelo es un Modelo Cliente-Servidor Centralizado.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0693624" y="-3524350"/>
            <a:ext cx="4729037" cy="7048700"/>
          </a:xfrm>
          <a:custGeom>
            <a:avLst/>
            <a:gdLst/>
            <a:ahLst/>
            <a:cxnLst/>
            <a:rect r="r" b="b" t="t" l="l"/>
            <a:pathLst>
              <a:path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915845" y="6786337"/>
            <a:ext cx="4729037" cy="7048700"/>
          </a:xfrm>
          <a:custGeom>
            <a:avLst/>
            <a:gdLst/>
            <a:ahLst/>
            <a:cxnLst/>
            <a:rect r="r" b="b" t="t" l="l"/>
            <a:pathLst>
              <a:path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756013" y="1534701"/>
            <a:ext cx="2448843" cy="405172"/>
          </a:xfrm>
          <a:custGeom>
            <a:avLst/>
            <a:gdLst/>
            <a:ahLst/>
            <a:cxnLst/>
            <a:rect r="r" b="b" t="t" l="l"/>
            <a:pathLst>
              <a:path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83144" y="8450319"/>
            <a:ext cx="2448843" cy="405172"/>
          </a:xfrm>
          <a:custGeom>
            <a:avLst/>
            <a:gdLst/>
            <a:ahLst/>
            <a:cxnLst/>
            <a:rect r="r" b="b" t="t" l="l"/>
            <a:pathLst>
              <a:path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6076374" y="-2482323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-2250585" y="6195701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341594" y="1534701"/>
            <a:ext cx="5481584" cy="955562"/>
            <a:chOff x="0" y="0"/>
            <a:chExt cx="1785490" cy="3112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85490" cy="311251"/>
            </a:xfrm>
            <a:custGeom>
              <a:avLst/>
              <a:gdLst/>
              <a:ahLst/>
              <a:cxnLst/>
              <a:rect r="r" b="b" t="t" l="l"/>
              <a:pathLst>
                <a:path h="311251" w="178549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8D1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64822" y="1691724"/>
            <a:ext cx="5481584" cy="955562"/>
            <a:chOff x="0" y="0"/>
            <a:chExt cx="1785490" cy="3112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85490" cy="311251"/>
            </a:xfrm>
            <a:custGeom>
              <a:avLst/>
              <a:gdLst/>
              <a:ahLst/>
              <a:cxnLst/>
              <a:rect r="r" b="b" t="t" l="l"/>
              <a:pathLst>
                <a:path h="311251" w="178549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ln w="76200" cap="sq">
              <a:solidFill>
                <a:srgbClr val="954CBA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5400000">
            <a:off x="17620984" y="1556567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5400000">
            <a:off x="-3752074" y="2286941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081822" y="1765803"/>
            <a:ext cx="6568534" cy="7378197"/>
          </a:xfrm>
          <a:custGeom>
            <a:avLst/>
            <a:gdLst/>
            <a:ahLst/>
            <a:cxnLst/>
            <a:rect r="r" b="b" t="t" l="l"/>
            <a:pathLst>
              <a:path h="7378197" w="6568534">
                <a:moveTo>
                  <a:pt x="0" y="0"/>
                </a:moveTo>
                <a:lnTo>
                  <a:pt x="6568533" y="0"/>
                </a:lnTo>
                <a:lnTo>
                  <a:pt x="6568533" y="7378197"/>
                </a:lnTo>
                <a:lnTo>
                  <a:pt x="0" y="73781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052555" y="1803903"/>
            <a:ext cx="4182889" cy="655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9"/>
              </a:lnSpc>
            </a:pPr>
            <a:r>
              <a:rPr lang="en-US" sz="3835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FLUJO DE MENSAJES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252217"/>
            <a:ext cx="4586373" cy="4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Universidad De Costa Rica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618866" y="9387387"/>
            <a:ext cx="6640434" cy="4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Programacion Paralela &amp; Concurrente | 2026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650355" y="3238426"/>
            <a:ext cx="8422006" cy="219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El flujo de mensajes abarca: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Mensajes Directos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Mensaje Diferido o Broadcast</a:t>
            </a:r>
          </a:p>
          <a:p>
            <a:pPr algn="l" marL="1295400" indent="-431800" lvl="2">
              <a:lnSpc>
                <a:spcPts val="42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Registro Inicial de Usuarios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0693624" y="-3524350"/>
            <a:ext cx="4729037" cy="7048700"/>
          </a:xfrm>
          <a:custGeom>
            <a:avLst/>
            <a:gdLst/>
            <a:ahLst/>
            <a:cxnLst/>
            <a:rect r="r" b="b" t="t" l="l"/>
            <a:pathLst>
              <a:path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915845" y="6786337"/>
            <a:ext cx="4729037" cy="7048700"/>
          </a:xfrm>
          <a:custGeom>
            <a:avLst/>
            <a:gdLst/>
            <a:ahLst/>
            <a:cxnLst/>
            <a:rect r="r" b="b" t="t" l="l"/>
            <a:pathLst>
              <a:path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756013" y="1534701"/>
            <a:ext cx="2448843" cy="405172"/>
          </a:xfrm>
          <a:custGeom>
            <a:avLst/>
            <a:gdLst/>
            <a:ahLst/>
            <a:cxnLst/>
            <a:rect r="r" b="b" t="t" l="l"/>
            <a:pathLst>
              <a:path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83144" y="8450319"/>
            <a:ext cx="2448843" cy="405172"/>
          </a:xfrm>
          <a:custGeom>
            <a:avLst/>
            <a:gdLst/>
            <a:ahLst/>
            <a:cxnLst/>
            <a:rect r="r" b="b" t="t" l="l"/>
            <a:pathLst>
              <a:path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6076374" y="-2482323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-2250585" y="6195701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341594" y="1534701"/>
            <a:ext cx="5481584" cy="955562"/>
            <a:chOff x="0" y="0"/>
            <a:chExt cx="1785490" cy="3112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85490" cy="311251"/>
            </a:xfrm>
            <a:custGeom>
              <a:avLst/>
              <a:gdLst/>
              <a:ahLst/>
              <a:cxnLst/>
              <a:rect r="r" b="b" t="t" l="l"/>
              <a:pathLst>
                <a:path h="311251" w="178549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8D1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64822" y="1691724"/>
            <a:ext cx="5481584" cy="955562"/>
            <a:chOff x="0" y="0"/>
            <a:chExt cx="1785490" cy="3112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85490" cy="311251"/>
            </a:xfrm>
            <a:custGeom>
              <a:avLst/>
              <a:gdLst/>
              <a:ahLst/>
              <a:cxnLst/>
              <a:rect r="r" b="b" t="t" l="l"/>
              <a:pathLst>
                <a:path h="311251" w="178549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ln w="76200" cap="sq">
              <a:solidFill>
                <a:srgbClr val="954CBA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5400000">
            <a:off x="17620984" y="1556567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5400000">
            <a:off x="-3752074" y="2286941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705075" y="2012482"/>
            <a:ext cx="2999562" cy="7467789"/>
          </a:xfrm>
          <a:custGeom>
            <a:avLst/>
            <a:gdLst/>
            <a:ahLst/>
            <a:cxnLst/>
            <a:rect r="r" b="b" t="t" l="l"/>
            <a:pathLst>
              <a:path h="7467789" w="2999562">
                <a:moveTo>
                  <a:pt x="0" y="0"/>
                </a:moveTo>
                <a:lnTo>
                  <a:pt x="2999562" y="0"/>
                </a:lnTo>
                <a:lnTo>
                  <a:pt x="2999562" y="7467788"/>
                </a:lnTo>
                <a:lnTo>
                  <a:pt x="0" y="7467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221513" y="1803903"/>
            <a:ext cx="5968201" cy="655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9"/>
              </a:lnSpc>
            </a:pPr>
            <a:r>
              <a:rPr lang="en-US" sz="3835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PROTOCOLO DE MENSAJES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252217"/>
            <a:ext cx="4586373" cy="4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Universidad De Costa Rica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414053" y="9387387"/>
            <a:ext cx="5845247" cy="4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Programacion Paralela &amp; Concurrente | 2026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410742" y="2822237"/>
            <a:ext cx="4286250" cy="2143125"/>
            <a:chOff x="0" y="0"/>
            <a:chExt cx="1128889" cy="56444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28889" cy="564444"/>
            </a:xfrm>
            <a:custGeom>
              <a:avLst/>
              <a:gdLst/>
              <a:ahLst/>
              <a:cxnLst/>
              <a:rect r="r" b="b" t="t" l="l"/>
              <a:pathLst>
                <a:path h="564444" w="1128889">
                  <a:moveTo>
                    <a:pt x="0" y="0"/>
                  </a:moveTo>
                  <a:lnTo>
                    <a:pt x="1128889" y="0"/>
                  </a:lnTo>
                  <a:lnTo>
                    <a:pt x="1128889" y="564444"/>
                  </a:lnTo>
                  <a:lnTo>
                    <a:pt x="0" y="564444"/>
                  </a:lnTo>
                  <a:close/>
                </a:path>
              </a:pathLst>
            </a:custGeom>
            <a:solidFill>
              <a:srgbClr val="954CBA">
                <a:alpha val="49804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1128889" cy="640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464822" y="2841550"/>
            <a:ext cx="4397188" cy="2385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FDFBFF"/>
                </a:solidFill>
                <a:latin typeface="Consolas"/>
                <a:ea typeface="Consolas"/>
                <a:cs typeface="Consolas"/>
                <a:sym typeface="Consolas"/>
              </a:rPr>
              <a:t>typedef struct {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FDFBFF"/>
                </a:solidFill>
                <a:latin typeface="Consolas"/>
                <a:ea typeface="Consolas"/>
                <a:cs typeface="Consolas"/>
                <a:sym typeface="Consolas"/>
              </a:rPr>
              <a:t>         int sender_rank;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FDFBFF"/>
                </a:solidFill>
                <a:latin typeface="Consolas"/>
                <a:ea typeface="Consolas"/>
                <a:cs typeface="Consolas"/>
                <a:sym typeface="Consolas"/>
              </a:rPr>
              <a:t>         int dest_ranks[MAX_DEST];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FDFBFF"/>
                </a:solidFill>
                <a:latin typeface="Consolas"/>
                <a:ea typeface="Consolas"/>
                <a:cs typeface="Consolas"/>
                <a:sym typeface="Consolas"/>
              </a:rPr>
              <a:t>         int dest_count;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FDFBFF"/>
                </a:solidFill>
                <a:latin typeface="Consolas"/>
                <a:ea typeface="Consolas"/>
                <a:cs typeface="Consolas"/>
                <a:sym typeface="Consolas"/>
              </a:rPr>
              <a:t>         size_t body_len;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FDFBFF"/>
                </a:solidFill>
                <a:latin typeface="Consolas"/>
                <a:ea typeface="Consolas"/>
                <a:cs typeface="Consolas"/>
                <a:sym typeface="Consolas"/>
              </a:rPr>
              <a:t>         char body[MAX_BODY_LEN];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FDFBFF"/>
                </a:solidFill>
                <a:latin typeface="Consolas"/>
                <a:ea typeface="Consolas"/>
                <a:cs typeface="Consolas"/>
                <a:sym typeface="Consolas"/>
              </a:rPr>
              <a:t>} Message;</a:t>
            </a:r>
          </a:p>
          <a:p>
            <a:pPr algn="l">
              <a:lnSpc>
                <a:spcPts val="238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6909390" y="5541570"/>
            <a:ext cx="8422006" cy="379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Se tiene serializacion por copia de memoria, memcpy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Utilizacion de tags MPI tales como: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DIRECT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BROADCAST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REGISTER</a:t>
            </a:r>
          </a:p>
          <a:p>
            <a:pPr algn="l" marL="1295400" indent="-431800" lvl="2">
              <a:lnSpc>
                <a:spcPts val="42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USER_LIST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0693624" y="-3524350"/>
            <a:ext cx="4729037" cy="7048700"/>
          </a:xfrm>
          <a:custGeom>
            <a:avLst/>
            <a:gdLst/>
            <a:ahLst/>
            <a:cxnLst/>
            <a:rect r="r" b="b" t="t" l="l"/>
            <a:pathLst>
              <a:path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915845" y="6786337"/>
            <a:ext cx="4729037" cy="7048700"/>
          </a:xfrm>
          <a:custGeom>
            <a:avLst/>
            <a:gdLst/>
            <a:ahLst/>
            <a:cxnLst/>
            <a:rect r="r" b="b" t="t" l="l"/>
            <a:pathLst>
              <a:path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756013" y="1534701"/>
            <a:ext cx="2448843" cy="405172"/>
          </a:xfrm>
          <a:custGeom>
            <a:avLst/>
            <a:gdLst/>
            <a:ahLst/>
            <a:cxnLst/>
            <a:rect r="r" b="b" t="t" l="l"/>
            <a:pathLst>
              <a:path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312030" y="8624528"/>
            <a:ext cx="2448843" cy="405172"/>
          </a:xfrm>
          <a:custGeom>
            <a:avLst/>
            <a:gdLst/>
            <a:ahLst/>
            <a:cxnLst/>
            <a:rect r="r" b="b" t="t" l="l"/>
            <a:pathLst>
              <a:path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6076374" y="-2482323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-2250585" y="6195701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17620984" y="1556567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-5400000">
            <a:off x="-3752074" y="2286941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6341594" y="1534701"/>
            <a:ext cx="5481584" cy="955562"/>
            <a:chOff x="0" y="0"/>
            <a:chExt cx="1785490" cy="3112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85490" cy="311251"/>
            </a:xfrm>
            <a:custGeom>
              <a:avLst/>
              <a:gdLst/>
              <a:ahLst/>
              <a:cxnLst/>
              <a:rect r="r" b="b" t="t" l="l"/>
              <a:pathLst>
                <a:path h="311251" w="178549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8D1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464822" y="1691724"/>
            <a:ext cx="5481584" cy="955562"/>
            <a:chOff x="0" y="0"/>
            <a:chExt cx="1785490" cy="3112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85490" cy="311251"/>
            </a:xfrm>
            <a:custGeom>
              <a:avLst/>
              <a:gdLst/>
              <a:ahLst/>
              <a:cxnLst/>
              <a:rect r="r" b="b" t="t" l="l"/>
              <a:pathLst>
                <a:path h="311251" w="178549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ln w="76200" cap="sq">
              <a:solidFill>
                <a:srgbClr val="954CBA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052555" y="1803903"/>
            <a:ext cx="4182889" cy="655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9"/>
              </a:lnSpc>
            </a:pPr>
            <a:r>
              <a:rPr lang="en-US" sz="3835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MPI WRAPPER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252217"/>
            <a:ext cx="4586373" cy="4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Universidad De Costa Rica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21397" y="9387387"/>
            <a:ext cx="6737903" cy="4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Programacion Paralela &amp; Concurrente | 2026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2616348" y="3294457"/>
            <a:ext cx="6476585" cy="2211626"/>
            <a:chOff x="0" y="0"/>
            <a:chExt cx="2109587" cy="72038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09587" cy="720382"/>
            </a:xfrm>
            <a:custGeom>
              <a:avLst/>
              <a:gdLst/>
              <a:ahLst/>
              <a:cxnLst/>
              <a:rect r="r" b="b" t="t" l="l"/>
              <a:pathLst>
                <a:path h="720382" w="2109587">
                  <a:moveTo>
                    <a:pt x="35861" y="0"/>
                  </a:moveTo>
                  <a:lnTo>
                    <a:pt x="2073726" y="0"/>
                  </a:lnTo>
                  <a:cubicBezTo>
                    <a:pt x="2083237" y="0"/>
                    <a:pt x="2092358" y="3778"/>
                    <a:pt x="2099084" y="10503"/>
                  </a:cubicBezTo>
                  <a:cubicBezTo>
                    <a:pt x="2105809" y="17229"/>
                    <a:pt x="2109587" y="26350"/>
                    <a:pt x="2109587" y="35861"/>
                  </a:cubicBezTo>
                  <a:lnTo>
                    <a:pt x="2109587" y="684521"/>
                  </a:lnTo>
                  <a:cubicBezTo>
                    <a:pt x="2109587" y="694032"/>
                    <a:pt x="2105809" y="703153"/>
                    <a:pt x="2099084" y="709879"/>
                  </a:cubicBezTo>
                  <a:cubicBezTo>
                    <a:pt x="2092358" y="716604"/>
                    <a:pt x="2083237" y="720382"/>
                    <a:pt x="2073726" y="720382"/>
                  </a:cubicBezTo>
                  <a:lnTo>
                    <a:pt x="35861" y="720382"/>
                  </a:lnTo>
                  <a:cubicBezTo>
                    <a:pt x="26350" y="720382"/>
                    <a:pt x="17229" y="716604"/>
                    <a:pt x="10503" y="709879"/>
                  </a:cubicBezTo>
                  <a:cubicBezTo>
                    <a:pt x="3778" y="703153"/>
                    <a:pt x="0" y="694032"/>
                    <a:pt x="0" y="684521"/>
                  </a:cubicBezTo>
                  <a:lnTo>
                    <a:pt x="0" y="35861"/>
                  </a:lnTo>
                  <a:cubicBezTo>
                    <a:pt x="0" y="26350"/>
                    <a:pt x="3778" y="17229"/>
                    <a:pt x="10503" y="10503"/>
                  </a:cubicBezTo>
                  <a:cubicBezTo>
                    <a:pt x="17229" y="3778"/>
                    <a:pt x="26350" y="0"/>
                    <a:pt x="35861" y="0"/>
                  </a:cubicBezTo>
                  <a:close/>
                </a:path>
              </a:pathLst>
            </a:custGeom>
            <a:solidFill>
              <a:srgbClr val="F4EDF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2109587" cy="796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616348" y="6006734"/>
            <a:ext cx="13662625" cy="2211626"/>
            <a:chOff x="0" y="0"/>
            <a:chExt cx="4450261" cy="72038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450261" cy="720382"/>
            </a:xfrm>
            <a:custGeom>
              <a:avLst/>
              <a:gdLst/>
              <a:ahLst/>
              <a:cxnLst/>
              <a:rect r="r" b="b" t="t" l="l"/>
              <a:pathLst>
                <a:path h="720382" w="4450261">
                  <a:moveTo>
                    <a:pt x="16999" y="0"/>
                  </a:moveTo>
                  <a:lnTo>
                    <a:pt x="4433262" y="0"/>
                  </a:lnTo>
                  <a:cubicBezTo>
                    <a:pt x="4437770" y="0"/>
                    <a:pt x="4442094" y="1791"/>
                    <a:pt x="4445282" y="4979"/>
                  </a:cubicBezTo>
                  <a:cubicBezTo>
                    <a:pt x="4448470" y="8167"/>
                    <a:pt x="4450261" y="12491"/>
                    <a:pt x="4450261" y="16999"/>
                  </a:cubicBezTo>
                  <a:lnTo>
                    <a:pt x="4450261" y="703383"/>
                  </a:lnTo>
                  <a:cubicBezTo>
                    <a:pt x="4450261" y="707891"/>
                    <a:pt x="4448470" y="712215"/>
                    <a:pt x="4445282" y="715403"/>
                  </a:cubicBezTo>
                  <a:cubicBezTo>
                    <a:pt x="4442094" y="718591"/>
                    <a:pt x="4437770" y="720382"/>
                    <a:pt x="4433262" y="720382"/>
                  </a:cubicBezTo>
                  <a:lnTo>
                    <a:pt x="16999" y="720382"/>
                  </a:lnTo>
                  <a:cubicBezTo>
                    <a:pt x="12491" y="720382"/>
                    <a:pt x="8167" y="718591"/>
                    <a:pt x="4979" y="715403"/>
                  </a:cubicBezTo>
                  <a:cubicBezTo>
                    <a:pt x="1791" y="712215"/>
                    <a:pt x="0" y="707891"/>
                    <a:pt x="0" y="703383"/>
                  </a:cubicBezTo>
                  <a:lnTo>
                    <a:pt x="0" y="16999"/>
                  </a:lnTo>
                  <a:cubicBezTo>
                    <a:pt x="0" y="12491"/>
                    <a:pt x="1791" y="8167"/>
                    <a:pt x="4979" y="4979"/>
                  </a:cubicBezTo>
                  <a:cubicBezTo>
                    <a:pt x="8167" y="1791"/>
                    <a:pt x="12491" y="0"/>
                    <a:pt x="16999" y="0"/>
                  </a:cubicBezTo>
                  <a:close/>
                </a:path>
              </a:pathLst>
            </a:custGeom>
            <a:solidFill>
              <a:srgbClr val="F4EDFB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76200"/>
              <a:ext cx="4450261" cy="796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802388" y="3294457"/>
            <a:ext cx="6476585" cy="2211626"/>
            <a:chOff x="0" y="0"/>
            <a:chExt cx="2109587" cy="72038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09587" cy="720382"/>
            </a:xfrm>
            <a:custGeom>
              <a:avLst/>
              <a:gdLst/>
              <a:ahLst/>
              <a:cxnLst/>
              <a:rect r="r" b="b" t="t" l="l"/>
              <a:pathLst>
                <a:path h="720382" w="2109587">
                  <a:moveTo>
                    <a:pt x="35861" y="0"/>
                  </a:moveTo>
                  <a:lnTo>
                    <a:pt x="2073726" y="0"/>
                  </a:lnTo>
                  <a:cubicBezTo>
                    <a:pt x="2083237" y="0"/>
                    <a:pt x="2092358" y="3778"/>
                    <a:pt x="2099084" y="10503"/>
                  </a:cubicBezTo>
                  <a:cubicBezTo>
                    <a:pt x="2105809" y="17229"/>
                    <a:pt x="2109587" y="26350"/>
                    <a:pt x="2109587" y="35861"/>
                  </a:cubicBezTo>
                  <a:lnTo>
                    <a:pt x="2109587" y="684521"/>
                  </a:lnTo>
                  <a:cubicBezTo>
                    <a:pt x="2109587" y="694032"/>
                    <a:pt x="2105809" y="703153"/>
                    <a:pt x="2099084" y="709879"/>
                  </a:cubicBezTo>
                  <a:cubicBezTo>
                    <a:pt x="2092358" y="716604"/>
                    <a:pt x="2083237" y="720382"/>
                    <a:pt x="2073726" y="720382"/>
                  </a:cubicBezTo>
                  <a:lnTo>
                    <a:pt x="35861" y="720382"/>
                  </a:lnTo>
                  <a:cubicBezTo>
                    <a:pt x="26350" y="720382"/>
                    <a:pt x="17229" y="716604"/>
                    <a:pt x="10503" y="709879"/>
                  </a:cubicBezTo>
                  <a:cubicBezTo>
                    <a:pt x="3778" y="703153"/>
                    <a:pt x="0" y="694032"/>
                    <a:pt x="0" y="684521"/>
                  </a:cubicBezTo>
                  <a:lnTo>
                    <a:pt x="0" y="35861"/>
                  </a:lnTo>
                  <a:cubicBezTo>
                    <a:pt x="0" y="26350"/>
                    <a:pt x="3778" y="17229"/>
                    <a:pt x="10503" y="10503"/>
                  </a:cubicBezTo>
                  <a:cubicBezTo>
                    <a:pt x="17229" y="3778"/>
                    <a:pt x="26350" y="0"/>
                    <a:pt x="35861" y="0"/>
                  </a:cubicBezTo>
                  <a:close/>
                </a:path>
              </a:pathLst>
            </a:custGeom>
            <a:solidFill>
              <a:srgbClr val="F4EDFB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76200"/>
              <a:ext cx="2109587" cy="796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97031" y="3149128"/>
            <a:ext cx="1393951" cy="981956"/>
            <a:chOff x="0" y="0"/>
            <a:chExt cx="1153823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53823" cy="812800"/>
            </a:xfrm>
            <a:custGeom>
              <a:avLst/>
              <a:gdLst/>
              <a:ahLst/>
              <a:cxnLst/>
              <a:rect r="r" b="b" t="t" l="l"/>
              <a:pathLst>
                <a:path h="812800" w="1153823">
                  <a:moveTo>
                    <a:pt x="576912" y="0"/>
                  </a:moveTo>
                  <a:cubicBezTo>
                    <a:pt x="258292" y="0"/>
                    <a:pt x="0" y="181951"/>
                    <a:pt x="0" y="406400"/>
                  </a:cubicBezTo>
                  <a:cubicBezTo>
                    <a:pt x="0" y="630849"/>
                    <a:pt x="258292" y="812800"/>
                    <a:pt x="576912" y="812800"/>
                  </a:cubicBezTo>
                  <a:cubicBezTo>
                    <a:pt x="895531" y="812800"/>
                    <a:pt x="1153823" y="630849"/>
                    <a:pt x="1153823" y="406400"/>
                  </a:cubicBezTo>
                  <a:cubicBezTo>
                    <a:pt x="1153823" y="181951"/>
                    <a:pt x="895531" y="0"/>
                    <a:pt x="576912" y="0"/>
                  </a:cubicBezTo>
                  <a:close/>
                </a:path>
              </a:pathLst>
            </a:custGeom>
            <a:solidFill>
              <a:srgbClr val="E8D1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08171" y="9525"/>
              <a:ext cx="937481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Antes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009026" y="6183790"/>
            <a:ext cx="2401049" cy="981956"/>
            <a:chOff x="0" y="0"/>
            <a:chExt cx="1987435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987435" cy="812800"/>
            </a:xfrm>
            <a:custGeom>
              <a:avLst/>
              <a:gdLst/>
              <a:ahLst/>
              <a:cxnLst/>
              <a:rect r="r" b="b" t="t" l="l"/>
              <a:pathLst>
                <a:path h="812800" w="1987435">
                  <a:moveTo>
                    <a:pt x="993718" y="0"/>
                  </a:moveTo>
                  <a:cubicBezTo>
                    <a:pt x="444902" y="0"/>
                    <a:pt x="0" y="181951"/>
                    <a:pt x="0" y="406400"/>
                  </a:cubicBezTo>
                  <a:cubicBezTo>
                    <a:pt x="0" y="630849"/>
                    <a:pt x="444902" y="812800"/>
                    <a:pt x="993718" y="812800"/>
                  </a:cubicBezTo>
                  <a:cubicBezTo>
                    <a:pt x="1542532" y="812800"/>
                    <a:pt x="1987435" y="630849"/>
                    <a:pt x="1987435" y="406400"/>
                  </a:cubicBezTo>
                  <a:cubicBezTo>
                    <a:pt x="1987435" y="181951"/>
                    <a:pt x="1542532" y="0"/>
                    <a:pt x="993718" y="0"/>
                  </a:cubicBezTo>
                  <a:close/>
                </a:path>
              </a:pathLst>
            </a:custGeom>
            <a:solidFill>
              <a:srgbClr val="E8D1F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186322" y="9525"/>
              <a:ext cx="1614791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Funciones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195066" y="3149128"/>
            <a:ext cx="1393951" cy="981956"/>
            <a:chOff x="0" y="0"/>
            <a:chExt cx="1153823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53823" cy="812800"/>
            </a:xfrm>
            <a:custGeom>
              <a:avLst/>
              <a:gdLst/>
              <a:ahLst/>
              <a:cxnLst/>
              <a:rect r="r" b="b" t="t" l="l"/>
              <a:pathLst>
                <a:path h="812800" w="1153823">
                  <a:moveTo>
                    <a:pt x="576912" y="0"/>
                  </a:moveTo>
                  <a:cubicBezTo>
                    <a:pt x="258292" y="0"/>
                    <a:pt x="0" y="181951"/>
                    <a:pt x="0" y="406400"/>
                  </a:cubicBezTo>
                  <a:cubicBezTo>
                    <a:pt x="0" y="630849"/>
                    <a:pt x="258292" y="812800"/>
                    <a:pt x="576912" y="812800"/>
                  </a:cubicBezTo>
                  <a:cubicBezTo>
                    <a:pt x="895531" y="812800"/>
                    <a:pt x="1153823" y="630849"/>
                    <a:pt x="1153823" y="406400"/>
                  </a:cubicBezTo>
                  <a:cubicBezTo>
                    <a:pt x="1153823" y="181951"/>
                    <a:pt x="895531" y="0"/>
                    <a:pt x="576912" y="0"/>
                  </a:cubicBezTo>
                  <a:close/>
                </a:path>
              </a:pathLst>
            </a:custGeom>
            <a:solidFill>
              <a:srgbClr val="E8D1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108171" y="9525"/>
              <a:ext cx="937481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AHORA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2990982" y="3660472"/>
            <a:ext cx="5727318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MPI directo en todo el codigo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706036" y="6326919"/>
            <a:ext cx="3483250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61341" indent="-2806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send_message()</a:t>
            </a:r>
          </a:p>
          <a:p>
            <a:pPr algn="ctr" marL="561341" indent="-2806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receive_message()</a:t>
            </a:r>
          </a:p>
          <a:p>
            <a:pPr algn="ctr" marL="561341" indent="-2806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try_receive_message()</a:t>
            </a:r>
          </a:p>
          <a:p>
            <a:pPr algn="ctr" marL="561341" indent="-2806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get_time()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177022" y="4045359"/>
            <a:ext cx="572731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Abstraccion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-38959" y="8262578"/>
            <a:ext cx="1828800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i="true">
                <a:solidFill>
                  <a:srgbClr val="954CBA"/>
                </a:solidFill>
                <a:latin typeface="Alegreya Sans Bold Italics"/>
                <a:ea typeface="Alegreya Sans Bold Italics"/>
                <a:cs typeface="Alegreya Sans Bold Italics"/>
                <a:sym typeface="Alegreya Sans Bold Italics"/>
              </a:rPr>
              <a:t>Reduce acoplamiento y centraliza la logica de comunicacion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0693624" y="-3524350"/>
            <a:ext cx="4729037" cy="7048700"/>
          </a:xfrm>
          <a:custGeom>
            <a:avLst/>
            <a:gdLst/>
            <a:ahLst/>
            <a:cxnLst/>
            <a:rect r="r" b="b" t="t" l="l"/>
            <a:pathLst>
              <a:path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915845" y="6786337"/>
            <a:ext cx="4729037" cy="7048700"/>
          </a:xfrm>
          <a:custGeom>
            <a:avLst/>
            <a:gdLst/>
            <a:ahLst/>
            <a:cxnLst/>
            <a:rect r="r" b="b" t="t" l="l"/>
            <a:pathLst>
              <a:path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756013" y="1534701"/>
            <a:ext cx="2448843" cy="405172"/>
          </a:xfrm>
          <a:custGeom>
            <a:avLst/>
            <a:gdLst/>
            <a:ahLst/>
            <a:cxnLst/>
            <a:rect r="r" b="b" t="t" l="l"/>
            <a:pathLst>
              <a:path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83144" y="8450319"/>
            <a:ext cx="2448843" cy="405172"/>
          </a:xfrm>
          <a:custGeom>
            <a:avLst/>
            <a:gdLst/>
            <a:ahLst/>
            <a:cxnLst/>
            <a:rect r="r" b="b" t="t" l="l"/>
            <a:pathLst>
              <a:path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6076374" y="-2482323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-2250585" y="6195701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5974886" y="1534701"/>
            <a:ext cx="6198876" cy="955562"/>
            <a:chOff x="0" y="0"/>
            <a:chExt cx="2019130" cy="3112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19130" cy="311251"/>
            </a:xfrm>
            <a:custGeom>
              <a:avLst/>
              <a:gdLst/>
              <a:ahLst/>
              <a:cxnLst/>
              <a:rect r="r" b="b" t="t" l="l"/>
              <a:pathLst>
                <a:path h="311251" w="2019130">
                  <a:moveTo>
                    <a:pt x="0" y="0"/>
                  </a:moveTo>
                  <a:lnTo>
                    <a:pt x="2019130" y="0"/>
                  </a:lnTo>
                  <a:lnTo>
                    <a:pt x="201913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8D1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2019130" cy="387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114238" y="1691724"/>
            <a:ext cx="6198876" cy="955562"/>
            <a:chOff x="0" y="0"/>
            <a:chExt cx="2019130" cy="3112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19130" cy="311251"/>
            </a:xfrm>
            <a:custGeom>
              <a:avLst/>
              <a:gdLst/>
              <a:ahLst/>
              <a:cxnLst/>
              <a:rect r="r" b="b" t="t" l="l"/>
              <a:pathLst>
                <a:path h="311251" w="2019130">
                  <a:moveTo>
                    <a:pt x="0" y="0"/>
                  </a:moveTo>
                  <a:lnTo>
                    <a:pt x="2019130" y="0"/>
                  </a:lnTo>
                  <a:lnTo>
                    <a:pt x="2019130" y="311251"/>
                  </a:lnTo>
                  <a:lnTo>
                    <a:pt x="0" y="311251"/>
                  </a:lnTo>
                  <a:close/>
                </a:path>
              </a:pathLst>
            </a:custGeom>
            <a:ln w="76200" cap="sq">
              <a:solidFill>
                <a:srgbClr val="954CBA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2019130" cy="387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464822" y="1803903"/>
            <a:ext cx="5358356" cy="655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9"/>
              </a:lnSpc>
            </a:pPr>
            <a:r>
              <a:rPr lang="en-US" sz="3835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CONCURRENCIA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252217"/>
            <a:ext cx="4586373" cy="4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Universidad De Costa Rica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6942" y="9387387"/>
            <a:ext cx="5822358" cy="4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Programacion Paralela &amp; Concurrente | 2026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475822" y="5583402"/>
            <a:ext cx="5442983" cy="2606924"/>
            <a:chOff x="0" y="0"/>
            <a:chExt cx="1772917" cy="84914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72917" cy="849141"/>
            </a:xfrm>
            <a:custGeom>
              <a:avLst/>
              <a:gdLst/>
              <a:ahLst/>
              <a:cxnLst/>
              <a:rect r="r" b="b" t="t" l="l"/>
              <a:pathLst>
                <a:path h="849141" w="1772917">
                  <a:moveTo>
                    <a:pt x="42671" y="0"/>
                  </a:moveTo>
                  <a:lnTo>
                    <a:pt x="1730246" y="0"/>
                  </a:lnTo>
                  <a:cubicBezTo>
                    <a:pt x="1741563" y="0"/>
                    <a:pt x="1752416" y="4496"/>
                    <a:pt x="1760419" y="12498"/>
                  </a:cubicBezTo>
                  <a:cubicBezTo>
                    <a:pt x="1768421" y="20500"/>
                    <a:pt x="1772917" y="31354"/>
                    <a:pt x="1772917" y="42671"/>
                  </a:cubicBezTo>
                  <a:lnTo>
                    <a:pt x="1772917" y="806470"/>
                  </a:lnTo>
                  <a:cubicBezTo>
                    <a:pt x="1772917" y="817787"/>
                    <a:pt x="1768421" y="828640"/>
                    <a:pt x="1760419" y="836643"/>
                  </a:cubicBezTo>
                  <a:cubicBezTo>
                    <a:pt x="1752416" y="844645"/>
                    <a:pt x="1741563" y="849141"/>
                    <a:pt x="1730246" y="849141"/>
                  </a:cubicBezTo>
                  <a:lnTo>
                    <a:pt x="42671" y="849141"/>
                  </a:lnTo>
                  <a:cubicBezTo>
                    <a:pt x="31354" y="849141"/>
                    <a:pt x="20500" y="844645"/>
                    <a:pt x="12498" y="836643"/>
                  </a:cubicBezTo>
                  <a:cubicBezTo>
                    <a:pt x="4496" y="828640"/>
                    <a:pt x="0" y="817787"/>
                    <a:pt x="0" y="806470"/>
                  </a:cubicBezTo>
                  <a:lnTo>
                    <a:pt x="0" y="42671"/>
                  </a:lnTo>
                  <a:cubicBezTo>
                    <a:pt x="0" y="31354"/>
                    <a:pt x="4496" y="20500"/>
                    <a:pt x="12498" y="12498"/>
                  </a:cubicBezTo>
                  <a:cubicBezTo>
                    <a:pt x="20500" y="4496"/>
                    <a:pt x="31354" y="0"/>
                    <a:pt x="42671" y="0"/>
                  </a:cubicBezTo>
                  <a:close/>
                </a:path>
              </a:pathLst>
            </a:custGeom>
            <a:solidFill>
              <a:srgbClr val="F4EDF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1772917" cy="925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3875059" y="6482052"/>
            <a:ext cx="4644509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GUI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383969" y="5201414"/>
            <a:ext cx="3626688" cy="763977"/>
            <a:chOff x="0" y="0"/>
            <a:chExt cx="1099154" cy="23154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9154" cy="231541"/>
            </a:xfrm>
            <a:custGeom>
              <a:avLst/>
              <a:gdLst/>
              <a:ahLst/>
              <a:cxnLst/>
              <a:rect r="r" b="b" t="t" l="l"/>
              <a:pathLst>
                <a:path h="231541" w="1099154">
                  <a:moveTo>
                    <a:pt x="36290" y="0"/>
                  </a:moveTo>
                  <a:lnTo>
                    <a:pt x="1062864" y="0"/>
                  </a:lnTo>
                  <a:cubicBezTo>
                    <a:pt x="1072488" y="0"/>
                    <a:pt x="1081719" y="3823"/>
                    <a:pt x="1088525" y="10629"/>
                  </a:cubicBezTo>
                  <a:cubicBezTo>
                    <a:pt x="1095330" y="17435"/>
                    <a:pt x="1099154" y="26665"/>
                    <a:pt x="1099154" y="36290"/>
                  </a:cubicBezTo>
                  <a:lnTo>
                    <a:pt x="1099154" y="195251"/>
                  </a:lnTo>
                  <a:cubicBezTo>
                    <a:pt x="1099154" y="215294"/>
                    <a:pt x="1082906" y="231541"/>
                    <a:pt x="1062864" y="231541"/>
                  </a:cubicBezTo>
                  <a:lnTo>
                    <a:pt x="36290" y="231541"/>
                  </a:lnTo>
                  <a:cubicBezTo>
                    <a:pt x="16248" y="231541"/>
                    <a:pt x="0" y="215294"/>
                    <a:pt x="0" y="195251"/>
                  </a:cubicBezTo>
                  <a:lnTo>
                    <a:pt x="0" y="36290"/>
                  </a:lnTo>
                  <a:cubicBezTo>
                    <a:pt x="0" y="16248"/>
                    <a:pt x="16248" y="0"/>
                    <a:pt x="36290" y="0"/>
                  </a:cubicBezTo>
                  <a:close/>
                </a:path>
              </a:pathLst>
            </a:custGeom>
            <a:solidFill>
              <a:srgbClr val="E8D1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099154" cy="288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Thread 1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-5400000">
            <a:off x="17620984" y="1556567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true" flipV="false" rot="-5400000">
            <a:off x="-3752074" y="2286941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9452270" y="5583402"/>
            <a:ext cx="5442983" cy="2606924"/>
            <a:chOff x="0" y="0"/>
            <a:chExt cx="1772917" cy="84914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72917" cy="849141"/>
            </a:xfrm>
            <a:custGeom>
              <a:avLst/>
              <a:gdLst/>
              <a:ahLst/>
              <a:cxnLst/>
              <a:rect r="r" b="b" t="t" l="l"/>
              <a:pathLst>
                <a:path h="849141" w="1772917">
                  <a:moveTo>
                    <a:pt x="42671" y="0"/>
                  </a:moveTo>
                  <a:lnTo>
                    <a:pt x="1730246" y="0"/>
                  </a:lnTo>
                  <a:cubicBezTo>
                    <a:pt x="1741563" y="0"/>
                    <a:pt x="1752416" y="4496"/>
                    <a:pt x="1760419" y="12498"/>
                  </a:cubicBezTo>
                  <a:cubicBezTo>
                    <a:pt x="1768421" y="20500"/>
                    <a:pt x="1772917" y="31354"/>
                    <a:pt x="1772917" y="42671"/>
                  </a:cubicBezTo>
                  <a:lnTo>
                    <a:pt x="1772917" y="806470"/>
                  </a:lnTo>
                  <a:cubicBezTo>
                    <a:pt x="1772917" y="817787"/>
                    <a:pt x="1768421" y="828640"/>
                    <a:pt x="1760419" y="836643"/>
                  </a:cubicBezTo>
                  <a:cubicBezTo>
                    <a:pt x="1752416" y="844645"/>
                    <a:pt x="1741563" y="849141"/>
                    <a:pt x="1730246" y="849141"/>
                  </a:cubicBezTo>
                  <a:lnTo>
                    <a:pt x="42671" y="849141"/>
                  </a:lnTo>
                  <a:cubicBezTo>
                    <a:pt x="31354" y="849141"/>
                    <a:pt x="20500" y="844645"/>
                    <a:pt x="12498" y="836643"/>
                  </a:cubicBezTo>
                  <a:cubicBezTo>
                    <a:pt x="4496" y="828640"/>
                    <a:pt x="0" y="817787"/>
                    <a:pt x="0" y="806470"/>
                  </a:cubicBezTo>
                  <a:lnTo>
                    <a:pt x="0" y="42671"/>
                  </a:lnTo>
                  <a:cubicBezTo>
                    <a:pt x="0" y="31354"/>
                    <a:pt x="4496" y="20500"/>
                    <a:pt x="12498" y="12498"/>
                  </a:cubicBezTo>
                  <a:cubicBezTo>
                    <a:pt x="20500" y="4496"/>
                    <a:pt x="31354" y="0"/>
                    <a:pt x="42671" y="0"/>
                  </a:cubicBezTo>
                  <a:close/>
                </a:path>
              </a:pathLst>
            </a:custGeom>
            <a:solidFill>
              <a:srgbClr val="F4EDFB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1772917" cy="925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238383" y="5201414"/>
            <a:ext cx="3626688" cy="763977"/>
            <a:chOff x="0" y="0"/>
            <a:chExt cx="1099154" cy="23154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9154" cy="231541"/>
            </a:xfrm>
            <a:custGeom>
              <a:avLst/>
              <a:gdLst/>
              <a:ahLst/>
              <a:cxnLst/>
              <a:rect r="r" b="b" t="t" l="l"/>
              <a:pathLst>
                <a:path h="231541" w="1099154">
                  <a:moveTo>
                    <a:pt x="36290" y="0"/>
                  </a:moveTo>
                  <a:lnTo>
                    <a:pt x="1062864" y="0"/>
                  </a:lnTo>
                  <a:cubicBezTo>
                    <a:pt x="1072488" y="0"/>
                    <a:pt x="1081719" y="3823"/>
                    <a:pt x="1088525" y="10629"/>
                  </a:cubicBezTo>
                  <a:cubicBezTo>
                    <a:pt x="1095330" y="17435"/>
                    <a:pt x="1099154" y="26665"/>
                    <a:pt x="1099154" y="36290"/>
                  </a:cubicBezTo>
                  <a:lnTo>
                    <a:pt x="1099154" y="195251"/>
                  </a:lnTo>
                  <a:cubicBezTo>
                    <a:pt x="1099154" y="215294"/>
                    <a:pt x="1082906" y="231541"/>
                    <a:pt x="1062864" y="231541"/>
                  </a:cubicBezTo>
                  <a:lnTo>
                    <a:pt x="36290" y="231541"/>
                  </a:lnTo>
                  <a:cubicBezTo>
                    <a:pt x="16248" y="231541"/>
                    <a:pt x="0" y="215294"/>
                    <a:pt x="0" y="195251"/>
                  </a:cubicBezTo>
                  <a:lnTo>
                    <a:pt x="0" y="36290"/>
                  </a:lnTo>
                  <a:cubicBezTo>
                    <a:pt x="0" y="16248"/>
                    <a:pt x="16248" y="0"/>
                    <a:pt x="36290" y="0"/>
                  </a:cubicBezTo>
                  <a:close/>
                </a:path>
              </a:pathLst>
            </a:custGeom>
            <a:solidFill>
              <a:srgbClr val="E8D1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1099154" cy="2886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700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Thread 2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851507" y="6482052"/>
            <a:ext cx="4644509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MPI receiver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-38959" y="8262578"/>
            <a:ext cx="1828800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 i="true">
                <a:solidFill>
                  <a:srgbClr val="954CBA"/>
                </a:solidFill>
                <a:latin typeface="Alegreya Sans Bold Italics"/>
                <a:ea typeface="Alegreya Sans Bold Italics"/>
                <a:cs typeface="Alegreya Sans Bold Italics"/>
                <a:sym typeface="Alegreya Sans Bold Italics"/>
              </a:rPr>
              <a:t>La interfaz nunca se bloquea por operaciones MPI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580977" y="2648000"/>
            <a:ext cx="5126046" cy="241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Simple pero potente:</a:t>
            </a:r>
          </a:p>
          <a:p>
            <a:pPr algn="l">
              <a:lnSpc>
                <a:spcPts val="182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pthread (hilo receptor)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GTK main thread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MPI_Iprobe (no bloqueante)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0693624" y="-3524350"/>
            <a:ext cx="4729037" cy="7048700"/>
          </a:xfrm>
          <a:custGeom>
            <a:avLst/>
            <a:gdLst/>
            <a:ahLst/>
            <a:cxnLst/>
            <a:rect r="r" b="b" t="t" l="l"/>
            <a:pathLst>
              <a:path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915845" y="6786337"/>
            <a:ext cx="4729037" cy="7048700"/>
          </a:xfrm>
          <a:custGeom>
            <a:avLst/>
            <a:gdLst/>
            <a:ahLst/>
            <a:cxnLst/>
            <a:rect r="r" b="b" t="t" l="l"/>
            <a:pathLst>
              <a:path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756013" y="1534701"/>
            <a:ext cx="2448843" cy="405172"/>
          </a:xfrm>
          <a:custGeom>
            <a:avLst/>
            <a:gdLst/>
            <a:ahLst/>
            <a:cxnLst/>
            <a:rect r="r" b="b" t="t" l="l"/>
            <a:pathLst>
              <a:path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83144" y="8450319"/>
            <a:ext cx="2448843" cy="405172"/>
          </a:xfrm>
          <a:custGeom>
            <a:avLst/>
            <a:gdLst/>
            <a:ahLst/>
            <a:cxnLst/>
            <a:rect r="r" b="b" t="t" l="l"/>
            <a:pathLst>
              <a:path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6076374" y="-2482323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-2250585" y="6195701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341594" y="1534701"/>
            <a:ext cx="5481584" cy="955562"/>
            <a:chOff x="0" y="0"/>
            <a:chExt cx="1785490" cy="3112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85490" cy="311251"/>
            </a:xfrm>
            <a:custGeom>
              <a:avLst/>
              <a:gdLst/>
              <a:ahLst/>
              <a:cxnLst/>
              <a:rect r="r" b="b" t="t" l="l"/>
              <a:pathLst>
                <a:path h="311251" w="178549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8D1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64822" y="1691724"/>
            <a:ext cx="5481584" cy="955562"/>
            <a:chOff x="0" y="0"/>
            <a:chExt cx="1785490" cy="3112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85490" cy="311251"/>
            </a:xfrm>
            <a:custGeom>
              <a:avLst/>
              <a:gdLst/>
              <a:ahLst/>
              <a:cxnLst/>
              <a:rect r="r" b="b" t="t" l="l"/>
              <a:pathLst>
                <a:path h="311251" w="178549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ln w="76200" cap="sq">
              <a:solidFill>
                <a:srgbClr val="954CBA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052555" y="1803903"/>
            <a:ext cx="4182889" cy="655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9"/>
              </a:lnSpc>
            </a:pPr>
            <a:r>
              <a:rPr lang="en-US" sz="3835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INTERFACES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252217"/>
            <a:ext cx="4586373" cy="4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Universidad De Costa Rica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621643" y="9387387"/>
            <a:ext cx="8637657" cy="4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Programacion Paralela &amp; Concurrente | 2026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3699963" y="3057877"/>
            <a:ext cx="11695077" cy="1933575"/>
            <a:chOff x="0" y="0"/>
            <a:chExt cx="3809381" cy="62981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09381" cy="629814"/>
            </a:xfrm>
            <a:custGeom>
              <a:avLst/>
              <a:gdLst/>
              <a:ahLst/>
              <a:cxnLst/>
              <a:rect r="r" b="b" t="t" l="l"/>
              <a:pathLst>
                <a:path h="629814" w="3809381">
                  <a:moveTo>
                    <a:pt x="19859" y="0"/>
                  </a:moveTo>
                  <a:lnTo>
                    <a:pt x="3789522" y="0"/>
                  </a:lnTo>
                  <a:cubicBezTo>
                    <a:pt x="3794789" y="0"/>
                    <a:pt x="3799840" y="2092"/>
                    <a:pt x="3803564" y="5817"/>
                  </a:cubicBezTo>
                  <a:cubicBezTo>
                    <a:pt x="3807289" y="9541"/>
                    <a:pt x="3809381" y="14592"/>
                    <a:pt x="3809381" y="19859"/>
                  </a:cubicBezTo>
                  <a:lnTo>
                    <a:pt x="3809381" y="609955"/>
                  </a:lnTo>
                  <a:cubicBezTo>
                    <a:pt x="3809381" y="615222"/>
                    <a:pt x="3807289" y="620273"/>
                    <a:pt x="3803564" y="623997"/>
                  </a:cubicBezTo>
                  <a:cubicBezTo>
                    <a:pt x="3799840" y="627722"/>
                    <a:pt x="3794789" y="629814"/>
                    <a:pt x="3789522" y="629814"/>
                  </a:cubicBezTo>
                  <a:lnTo>
                    <a:pt x="19859" y="629814"/>
                  </a:lnTo>
                  <a:cubicBezTo>
                    <a:pt x="14592" y="629814"/>
                    <a:pt x="9541" y="627722"/>
                    <a:pt x="5817" y="623997"/>
                  </a:cubicBezTo>
                  <a:cubicBezTo>
                    <a:pt x="2092" y="620273"/>
                    <a:pt x="0" y="615222"/>
                    <a:pt x="0" y="609955"/>
                  </a:cubicBezTo>
                  <a:lnTo>
                    <a:pt x="0" y="19859"/>
                  </a:lnTo>
                  <a:cubicBezTo>
                    <a:pt x="0" y="14592"/>
                    <a:pt x="2092" y="9541"/>
                    <a:pt x="5817" y="5817"/>
                  </a:cubicBezTo>
                  <a:cubicBezTo>
                    <a:pt x="9541" y="2092"/>
                    <a:pt x="14592" y="0"/>
                    <a:pt x="19859" y="0"/>
                  </a:cubicBezTo>
                  <a:close/>
                </a:path>
              </a:pathLst>
            </a:custGeom>
            <a:solidFill>
              <a:srgbClr val="F4EDF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3809381" cy="706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699963" y="5981004"/>
            <a:ext cx="11695077" cy="1933051"/>
            <a:chOff x="0" y="0"/>
            <a:chExt cx="3809381" cy="62964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09381" cy="629643"/>
            </a:xfrm>
            <a:custGeom>
              <a:avLst/>
              <a:gdLst/>
              <a:ahLst/>
              <a:cxnLst/>
              <a:rect r="r" b="b" t="t" l="l"/>
              <a:pathLst>
                <a:path h="629643" w="3809381">
                  <a:moveTo>
                    <a:pt x="19859" y="0"/>
                  </a:moveTo>
                  <a:lnTo>
                    <a:pt x="3789522" y="0"/>
                  </a:lnTo>
                  <a:cubicBezTo>
                    <a:pt x="3794789" y="0"/>
                    <a:pt x="3799840" y="2092"/>
                    <a:pt x="3803564" y="5817"/>
                  </a:cubicBezTo>
                  <a:cubicBezTo>
                    <a:pt x="3807289" y="9541"/>
                    <a:pt x="3809381" y="14592"/>
                    <a:pt x="3809381" y="19859"/>
                  </a:cubicBezTo>
                  <a:lnTo>
                    <a:pt x="3809381" y="609784"/>
                  </a:lnTo>
                  <a:cubicBezTo>
                    <a:pt x="3809381" y="615051"/>
                    <a:pt x="3807289" y="620102"/>
                    <a:pt x="3803564" y="623827"/>
                  </a:cubicBezTo>
                  <a:cubicBezTo>
                    <a:pt x="3799840" y="627551"/>
                    <a:pt x="3794789" y="629643"/>
                    <a:pt x="3789522" y="629643"/>
                  </a:cubicBezTo>
                  <a:lnTo>
                    <a:pt x="19859" y="629643"/>
                  </a:lnTo>
                  <a:cubicBezTo>
                    <a:pt x="14592" y="629643"/>
                    <a:pt x="9541" y="627551"/>
                    <a:pt x="5817" y="623827"/>
                  </a:cubicBezTo>
                  <a:cubicBezTo>
                    <a:pt x="2092" y="620102"/>
                    <a:pt x="0" y="615051"/>
                    <a:pt x="0" y="609784"/>
                  </a:cubicBezTo>
                  <a:lnTo>
                    <a:pt x="0" y="19859"/>
                  </a:lnTo>
                  <a:cubicBezTo>
                    <a:pt x="0" y="14592"/>
                    <a:pt x="2092" y="9541"/>
                    <a:pt x="5817" y="5817"/>
                  </a:cubicBezTo>
                  <a:cubicBezTo>
                    <a:pt x="9541" y="2092"/>
                    <a:pt x="14592" y="0"/>
                    <a:pt x="19859" y="0"/>
                  </a:cubicBezTo>
                  <a:close/>
                </a:path>
              </a:pathLst>
            </a:custGeom>
            <a:solidFill>
              <a:srgbClr val="F4EDFB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3809381" cy="705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4204856" y="3262665"/>
            <a:ext cx="10903759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Lista de contactos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Chat en tiempo real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Seleccion directo / broadcast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176258" y="6414130"/>
            <a:ext cx="10903759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Pruebas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Latencia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-5400000">
            <a:off x="17620984" y="1556567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true" flipV="false" rot="-5400000">
            <a:off x="-3752074" y="2286941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3194302" y="3533687"/>
            <a:ext cx="981956" cy="981956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1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GUI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222901" y="6573677"/>
            <a:ext cx="981956" cy="981956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D1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Norwester"/>
                  <a:ea typeface="Norwester"/>
                  <a:cs typeface="Norwester"/>
                  <a:sym typeface="Norwester"/>
                </a:rPr>
                <a:t>CLI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0693624" y="-3524350"/>
            <a:ext cx="4729037" cy="7048700"/>
          </a:xfrm>
          <a:custGeom>
            <a:avLst/>
            <a:gdLst/>
            <a:ahLst/>
            <a:cxnLst/>
            <a:rect r="r" b="b" t="t" l="l"/>
            <a:pathLst>
              <a:path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915845" y="6786337"/>
            <a:ext cx="4729037" cy="7048700"/>
          </a:xfrm>
          <a:custGeom>
            <a:avLst/>
            <a:gdLst/>
            <a:ahLst/>
            <a:cxnLst/>
            <a:rect r="r" b="b" t="t" l="l"/>
            <a:pathLst>
              <a:path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756013" y="1534701"/>
            <a:ext cx="2448843" cy="405172"/>
          </a:xfrm>
          <a:custGeom>
            <a:avLst/>
            <a:gdLst/>
            <a:ahLst/>
            <a:cxnLst/>
            <a:rect r="r" b="b" t="t" l="l"/>
            <a:pathLst>
              <a:path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83144" y="8450319"/>
            <a:ext cx="2448843" cy="405172"/>
          </a:xfrm>
          <a:custGeom>
            <a:avLst/>
            <a:gdLst/>
            <a:ahLst/>
            <a:cxnLst/>
            <a:rect r="r" b="b" t="t" l="l"/>
            <a:pathLst>
              <a:path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-2250585" y="6195701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341594" y="1534701"/>
            <a:ext cx="5481584" cy="955562"/>
            <a:chOff x="0" y="0"/>
            <a:chExt cx="1785490" cy="3112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85490" cy="311251"/>
            </a:xfrm>
            <a:custGeom>
              <a:avLst/>
              <a:gdLst/>
              <a:ahLst/>
              <a:cxnLst/>
              <a:rect r="r" b="b" t="t" l="l"/>
              <a:pathLst>
                <a:path h="311251" w="178549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8D1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64822" y="1691724"/>
            <a:ext cx="5481584" cy="955562"/>
            <a:chOff x="0" y="0"/>
            <a:chExt cx="1785490" cy="3112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85490" cy="311251"/>
            </a:xfrm>
            <a:custGeom>
              <a:avLst/>
              <a:gdLst/>
              <a:ahLst/>
              <a:cxnLst/>
              <a:rect r="r" b="b" t="t" l="l"/>
              <a:pathLst>
                <a:path h="311251" w="178549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ln w="76200" cap="sq">
              <a:solidFill>
                <a:srgbClr val="954CB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true" flipV="false" rot="-5400000">
            <a:off x="-3752074" y="2286941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280364" y="2674725"/>
            <a:ext cx="11743456" cy="6180766"/>
          </a:xfrm>
          <a:custGeom>
            <a:avLst/>
            <a:gdLst/>
            <a:ahLst/>
            <a:cxnLst/>
            <a:rect r="r" b="b" t="t" l="l"/>
            <a:pathLst>
              <a:path h="6180766" w="11743456">
                <a:moveTo>
                  <a:pt x="0" y="0"/>
                </a:moveTo>
                <a:lnTo>
                  <a:pt x="11743455" y="0"/>
                </a:lnTo>
                <a:lnTo>
                  <a:pt x="11743455" y="6180766"/>
                </a:lnTo>
                <a:lnTo>
                  <a:pt x="0" y="61807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5400000">
            <a:off x="17620984" y="1556567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052555" y="1803903"/>
            <a:ext cx="4182889" cy="655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9"/>
              </a:lnSpc>
            </a:pPr>
            <a:r>
              <a:rPr lang="en-US" sz="3835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CALIDAD &amp; PRUEBAS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252217"/>
            <a:ext cx="4586373" cy="4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Universidad De Costa Rica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070724" y="9387387"/>
            <a:ext cx="6188576" cy="4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Programacion Paralela &amp; Concurrente | 2026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296461" y="2892414"/>
            <a:ext cx="11695077" cy="432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Test de protocolo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Serialize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Deserialize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Sanitizers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ASan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UBSan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Valgrind sin leaks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Make test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-5400000">
            <a:off x="16076374" y="-2482323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0693624" y="-3524350"/>
            <a:ext cx="4729037" cy="7048700"/>
          </a:xfrm>
          <a:custGeom>
            <a:avLst/>
            <a:gdLst/>
            <a:ahLst/>
            <a:cxnLst/>
            <a:rect r="r" b="b" t="t" l="l"/>
            <a:pathLst>
              <a:path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915845" y="6786337"/>
            <a:ext cx="4729037" cy="7048700"/>
          </a:xfrm>
          <a:custGeom>
            <a:avLst/>
            <a:gdLst/>
            <a:ahLst/>
            <a:cxnLst/>
            <a:rect r="r" b="b" t="t" l="l"/>
            <a:pathLst>
              <a:path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756013" y="1534701"/>
            <a:ext cx="2448843" cy="405172"/>
          </a:xfrm>
          <a:custGeom>
            <a:avLst/>
            <a:gdLst/>
            <a:ahLst/>
            <a:cxnLst/>
            <a:rect r="r" b="b" t="t" l="l"/>
            <a:pathLst>
              <a:path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83144" y="8450319"/>
            <a:ext cx="2448843" cy="405172"/>
          </a:xfrm>
          <a:custGeom>
            <a:avLst/>
            <a:gdLst/>
            <a:ahLst/>
            <a:cxnLst/>
            <a:rect r="r" b="b" t="t" l="l"/>
            <a:pathLst>
              <a:path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6076374" y="-2482323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2"/>
                </a:lnTo>
                <a:lnTo>
                  <a:pt x="0" y="65929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-2250585" y="6195701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0" y="0"/>
                </a:moveTo>
                <a:lnTo>
                  <a:pt x="4423251" y="0"/>
                </a:lnTo>
                <a:lnTo>
                  <a:pt x="4423251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341594" y="1534701"/>
            <a:ext cx="5481584" cy="955562"/>
            <a:chOff x="0" y="0"/>
            <a:chExt cx="1785490" cy="3112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85490" cy="311251"/>
            </a:xfrm>
            <a:custGeom>
              <a:avLst/>
              <a:gdLst/>
              <a:ahLst/>
              <a:cxnLst/>
              <a:rect r="r" b="b" t="t" l="l"/>
              <a:pathLst>
                <a:path h="311251" w="178549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8D1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64822" y="1691724"/>
            <a:ext cx="5481584" cy="955562"/>
            <a:chOff x="0" y="0"/>
            <a:chExt cx="1785490" cy="3112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85490" cy="311251"/>
            </a:xfrm>
            <a:custGeom>
              <a:avLst/>
              <a:gdLst/>
              <a:ahLst/>
              <a:cxnLst/>
              <a:rect r="r" b="b" t="t" l="l"/>
              <a:pathLst>
                <a:path h="311251" w="178549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ln w="76200" cap="sq">
              <a:solidFill>
                <a:srgbClr val="954CBA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052555" y="1803903"/>
            <a:ext cx="4182889" cy="655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9"/>
              </a:lnSpc>
            </a:pPr>
            <a:r>
              <a:rPr lang="en-US" sz="3835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DEMO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252217"/>
            <a:ext cx="4586373" cy="4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Universidad De Costa Rica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116501" y="9387387"/>
            <a:ext cx="6142799" cy="47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Programacion Paralela &amp; Concurrente | 2026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-5400000">
            <a:off x="17620984" y="1556567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0" y="0"/>
                </a:moveTo>
                <a:lnTo>
                  <a:pt x="4423252" y="0"/>
                </a:lnTo>
                <a:lnTo>
                  <a:pt x="4423252" y="6592923"/>
                </a:lnTo>
                <a:lnTo>
                  <a:pt x="0" y="65929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-5400000">
            <a:off x="-3752074" y="2286941"/>
            <a:ext cx="4423252" cy="6592923"/>
          </a:xfrm>
          <a:custGeom>
            <a:avLst/>
            <a:gdLst/>
            <a:ahLst/>
            <a:cxnLst/>
            <a:rect r="r" b="b" t="t" l="l"/>
            <a:pathLst>
              <a:path h="6592923" w="4423252">
                <a:moveTo>
                  <a:pt x="4423252" y="0"/>
                </a:moveTo>
                <a:lnTo>
                  <a:pt x="0" y="0"/>
                </a:lnTo>
                <a:lnTo>
                  <a:pt x="0" y="6592923"/>
                </a:lnTo>
                <a:lnTo>
                  <a:pt x="4423252" y="6592923"/>
                </a:lnTo>
                <a:lnTo>
                  <a:pt x="442325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2697521" y="3371776"/>
            <a:ext cx="12892957" cy="4574392"/>
            <a:chOff x="0" y="0"/>
            <a:chExt cx="4199561" cy="148999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99561" cy="1489995"/>
            </a:xfrm>
            <a:custGeom>
              <a:avLst/>
              <a:gdLst/>
              <a:ahLst/>
              <a:cxnLst/>
              <a:rect r="r" b="b" t="t" l="l"/>
              <a:pathLst>
                <a:path h="1489995" w="4199561">
                  <a:moveTo>
                    <a:pt x="18014" y="0"/>
                  </a:moveTo>
                  <a:lnTo>
                    <a:pt x="4181546" y="0"/>
                  </a:lnTo>
                  <a:cubicBezTo>
                    <a:pt x="4186324" y="0"/>
                    <a:pt x="4190906" y="1898"/>
                    <a:pt x="4194284" y="5276"/>
                  </a:cubicBezTo>
                  <a:cubicBezTo>
                    <a:pt x="4197663" y="8655"/>
                    <a:pt x="4199561" y="13237"/>
                    <a:pt x="4199561" y="18014"/>
                  </a:cubicBezTo>
                  <a:lnTo>
                    <a:pt x="4199561" y="1471980"/>
                  </a:lnTo>
                  <a:cubicBezTo>
                    <a:pt x="4199561" y="1476758"/>
                    <a:pt x="4197663" y="1481340"/>
                    <a:pt x="4194284" y="1484718"/>
                  </a:cubicBezTo>
                  <a:cubicBezTo>
                    <a:pt x="4190906" y="1488097"/>
                    <a:pt x="4186324" y="1489995"/>
                    <a:pt x="4181546" y="1489995"/>
                  </a:cubicBezTo>
                  <a:lnTo>
                    <a:pt x="18014" y="1489995"/>
                  </a:lnTo>
                  <a:cubicBezTo>
                    <a:pt x="13237" y="1489995"/>
                    <a:pt x="8655" y="1488097"/>
                    <a:pt x="5276" y="1484718"/>
                  </a:cubicBezTo>
                  <a:cubicBezTo>
                    <a:pt x="1898" y="1481340"/>
                    <a:pt x="0" y="1476758"/>
                    <a:pt x="0" y="1471980"/>
                  </a:cubicBezTo>
                  <a:lnTo>
                    <a:pt x="0" y="18014"/>
                  </a:lnTo>
                  <a:cubicBezTo>
                    <a:pt x="0" y="13237"/>
                    <a:pt x="1898" y="8655"/>
                    <a:pt x="5276" y="5276"/>
                  </a:cubicBezTo>
                  <a:cubicBezTo>
                    <a:pt x="8655" y="1898"/>
                    <a:pt x="13237" y="0"/>
                    <a:pt x="18014" y="0"/>
                  </a:cubicBezTo>
                  <a:close/>
                </a:path>
              </a:pathLst>
            </a:custGeom>
            <a:solidFill>
              <a:srgbClr val="F4EDF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4199561" cy="156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980435" y="3829294"/>
            <a:ext cx="12327130" cy="382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Ejecucion mpirun</a:t>
            </a:r>
          </a:p>
          <a:p>
            <a:pPr algn="l">
              <a:lnSpc>
                <a:spcPts val="3359"/>
              </a:lnSpc>
            </a:pP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Demostracion de 3 procesos</a:t>
            </a:r>
          </a:p>
          <a:p>
            <a:pPr algn="l">
              <a:lnSpc>
                <a:spcPts val="3359"/>
              </a:lnSpc>
            </a:pP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Envio de  mensaje directo</a:t>
            </a:r>
          </a:p>
          <a:p>
            <a:pPr algn="l">
              <a:lnSpc>
                <a:spcPts val="3359"/>
              </a:lnSpc>
            </a:pP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Envio de mensaje en broadcast</a:t>
            </a:r>
          </a:p>
          <a:p>
            <a:pPr algn="l">
              <a:lnSpc>
                <a:spcPts val="3359"/>
              </a:lnSpc>
            </a:pP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Demostracion de GUI / CLI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10643118" y="-3524350"/>
            <a:ext cx="4729037" cy="7048700"/>
          </a:xfrm>
          <a:custGeom>
            <a:avLst/>
            <a:gdLst/>
            <a:ahLst/>
            <a:cxnLst/>
            <a:rect r="r" b="b" t="t" l="l"/>
            <a:pathLst>
              <a:path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915845" y="6786337"/>
            <a:ext cx="4729037" cy="7048700"/>
          </a:xfrm>
          <a:custGeom>
            <a:avLst/>
            <a:gdLst/>
            <a:ahLst/>
            <a:cxnLst/>
            <a:rect r="r" b="b" t="t" l="l"/>
            <a:pathLst>
              <a:path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DFB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4274726" cy="22436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756013" y="1534701"/>
            <a:ext cx="2448843" cy="405172"/>
          </a:xfrm>
          <a:custGeom>
            <a:avLst/>
            <a:gdLst/>
            <a:ahLst/>
            <a:cxnLst/>
            <a:rect r="r" b="b" t="t" l="l"/>
            <a:pathLst>
              <a:path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83144" y="8450319"/>
            <a:ext cx="2448843" cy="405172"/>
          </a:xfrm>
          <a:custGeom>
            <a:avLst/>
            <a:gdLst/>
            <a:ahLst/>
            <a:cxnLst/>
            <a:rect r="r" b="b" t="t" l="l"/>
            <a:pathLst>
              <a:path h="405172" w="2448843">
                <a:moveTo>
                  <a:pt x="0" y="0"/>
                </a:moveTo>
                <a:lnTo>
                  <a:pt x="2448843" y="0"/>
                </a:lnTo>
                <a:lnTo>
                  <a:pt x="2448843" y="405172"/>
                </a:lnTo>
                <a:lnTo>
                  <a:pt x="0" y="4051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-2364519" y="5733950"/>
            <a:ext cx="4729037" cy="7048700"/>
          </a:xfrm>
          <a:custGeom>
            <a:avLst/>
            <a:gdLst/>
            <a:ahLst/>
            <a:cxnLst/>
            <a:rect r="r" b="b" t="t" l="l"/>
            <a:pathLst>
              <a:path h="7048700" w="4729037">
                <a:moveTo>
                  <a:pt x="0" y="0"/>
                </a:moveTo>
                <a:lnTo>
                  <a:pt x="4729038" y="0"/>
                </a:lnTo>
                <a:lnTo>
                  <a:pt x="4729038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400000">
            <a:off x="15923481" y="-2495650"/>
            <a:ext cx="4729037" cy="7048700"/>
          </a:xfrm>
          <a:custGeom>
            <a:avLst/>
            <a:gdLst/>
            <a:ahLst/>
            <a:cxnLst/>
            <a:rect r="r" b="b" t="t" l="l"/>
            <a:pathLst>
              <a:path h="7048700" w="4729037">
                <a:moveTo>
                  <a:pt x="0" y="0"/>
                </a:moveTo>
                <a:lnTo>
                  <a:pt x="4729038" y="0"/>
                </a:lnTo>
                <a:lnTo>
                  <a:pt x="4729038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400000">
            <a:off x="-3729024" y="1619150"/>
            <a:ext cx="4729037" cy="7048700"/>
          </a:xfrm>
          <a:custGeom>
            <a:avLst/>
            <a:gdLst/>
            <a:ahLst/>
            <a:cxnLst/>
            <a:rect r="r" b="b" t="t" l="l"/>
            <a:pathLst>
              <a:path h="7048700" w="4729037">
                <a:moveTo>
                  <a:pt x="0" y="0"/>
                </a:moveTo>
                <a:lnTo>
                  <a:pt x="4729038" y="0"/>
                </a:lnTo>
                <a:lnTo>
                  <a:pt x="4729038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17286547" y="1619150"/>
            <a:ext cx="4729037" cy="7048700"/>
          </a:xfrm>
          <a:custGeom>
            <a:avLst/>
            <a:gdLst/>
            <a:ahLst/>
            <a:cxnLst/>
            <a:rect r="r" b="b" t="t" l="l"/>
            <a:pathLst>
              <a:path h="7048700" w="4729037">
                <a:moveTo>
                  <a:pt x="0" y="0"/>
                </a:moveTo>
                <a:lnTo>
                  <a:pt x="4729037" y="0"/>
                </a:lnTo>
                <a:lnTo>
                  <a:pt x="4729037" y="7048700"/>
                </a:lnTo>
                <a:lnTo>
                  <a:pt x="0" y="704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123091" y="3902931"/>
            <a:ext cx="6041818" cy="1600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10"/>
              </a:lnSpc>
            </a:pPr>
            <a:r>
              <a:rPr lang="en-US" sz="12010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GRACIAS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755079" y="6132042"/>
            <a:ext cx="6779282" cy="1181779"/>
            <a:chOff x="0" y="0"/>
            <a:chExt cx="1785490" cy="3112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85490" cy="311251"/>
            </a:xfrm>
            <a:custGeom>
              <a:avLst/>
              <a:gdLst/>
              <a:ahLst/>
              <a:cxnLst/>
              <a:rect r="r" b="b" t="t" l="l"/>
              <a:pathLst>
                <a:path h="311251" w="178549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solidFill>
              <a:srgbClr val="E8D1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907479" y="6326239"/>
            <a:ext cx="6779282" cy="1181779"/>
            <a:chOff x="0" y="0"/>
            <a:chExt cx="1785490" cy="3112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85490" cy="311251"/>
            </a:xfrm>
            <a:custGeom>
              <a:avLst/>
              <a:gdLst/>
              <a:ahLst/>
              <a:cxnLst/>
              <a:rect r="r" b="b" t="t" l="l"/>
              <a:pathLst>
                <a:path h="311251" w="1785490">
                  <a:moveTo>
                    <a:pt x="0" y="0"/>
                  </a:moveTo>
                  <a:lnTo>
                    <a:pt x="1785490" y="0"/>
                  </a:lnTo>
                  <a:lnTo>
                    <a:pt x="1785490" y="311251"/>
                  </a:lnTo>
                  <a:lnTo>
                    <a:pt x="0" y="311251"/>
                  </a:lnTo>
                  <a:close/>
                </a:path>
              </a:pathLst>
            </a:custGeom>
            <a:ln w="76200" cap="sq">
              <a:solidFill>
                <a:srgbClr val="954CBA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1785490" cy="387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429330" y="6192889"/>
            <a:ext cx="5735579" cy="190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Mauricio Artavia Monge</a:t>
            </a: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C10743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6850813" y="1375337"/>
            <a:ext cx="4586373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Universidad De Costa Rica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73946" y="8193819"/>
            <a:ext cx="664634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legreya Sans"/>
                <a:ea typeface="Alegreya Sans"/>
                <a:cs typeface="Alegreya Sans"/>
                <a:sym typeface="Alegreya Sans"/>
              </a:rPr>
              <a:t>Programacion Paralela &amp; Concurrente |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DAHNUIfAgCM</dc:identifier>
  <dcterms:modified xsi:type="dcterms:W3CDTF">2011-08-01T06:04:30Z</dcterms:modified>
  <cp:revision>1</cp:revision>
  <dc:title>messaging_client</dc:title>
</cp:coreProperties>
</file>